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2ed8e63b474f3b" /><Relationship Type="http://schemas.openxmlformats.org/officeDocument/2006/relationships/extended-properties" Target="/docProps/app.xml" Id="R0cfe3fabfadf427f" /><Relationship Type="http://schemas.openxmlformats.org/officeDocument/2006/relationships/officeDocument" Target="/ppt/presentation.xml" Id="R1b877e3fd4da4e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1c4b6dc4974be6"/>
  </p:sldMasterIdLst>
  <p:notesMasterIdLst>
    <p:notesMasterId xmlns:r="http://schemas.openxmlformats.org/officeDocument/2006/relationships" r:id="R3a0c48a5108a4ad7"/>
  </p:notesMasterIdLst>
  <p:sldIdLst>
    <p:sldId xmlns:r="http://schemas.openxmlformats.org/officeDocument/2006/relationships" id="256" r:id="R3690a06030514b05"/>
    <p:sldId xmlns:r="http://schemas.openxmlformats.org/officeDocument/2006/relationships" id="257" r:id="Rdb2bd18c678a4181"/>
    <p:sldId xmlns:r="http://schemas.openxmlformats.org/officeDocument/2006/relationships" id="258" r:id="Ra56c78f02f3a47ca"/>
    <p:sldId xmlns:r="http://schemas.openxmlformats.org/officeDocument/2006/relationships" id="259" r:id="Rf866a6d499314c38"/>
    <p:sldId xmlns:r="http://schemas.openxmlformats.org/officeDocument/2006/relationships" id="260" r:id="R84be20556b9e4b99"/>
    <p:sldId xmlns:r="http://schemas.openxmlformats.org/officeDocument/2006/relationships" id="261" r:id="R87458003e46e400c"/>
    <p:sldId xmlns:r="http://schemas.openxmlformats.org/officeDocument/2006/relationships" id="262" r:id="Rc7f36c67621e41bf"/>
    <p:sldId xmlns:r="http://schemas.openxmlformats.org/officeDocument/2006/relationships" id="263" r:id="R57f1c6dc20cc40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a8628177af4d7a" /><Relationship Type="http://schemas.openxmlformats.org/officeDocument/2006/relationships/slideMaster" Target="/ppt/slideMasters/slideMaster1.xml" Id="R531c4b6dc4974be6" /><Relationship Type="http://schemas.openxmlformats.org/officeDocument/2006/relationships/notesMaster" Target="/ppt/notesMasters/notesMaster1.xml" Id="R3a0c48a5108a4ad7" /><Relationship Type="http://schemas.openxmlformats.org/officeDocument/2006/relationships/presProps" Target="/ppt/presProps.xml" Id="Rd30d5bf92f28445e" /><Relationship Type="http://schemas.openxmlformats.org/officeDocument/2006/relationships/tableStyles" Target="/ppt/tableStyles.xml" Id="R7fd5c3e6edef43dc" /><Relationship Type="http://schemas.openxmlformats.org/officeDocument/2006/relationships/slide" Target="/ppt/slides/slide1.xml" Id="R3690a06030514b05" /><Relationship Type="http://schemas.openxmlformats.org/officeDocument/2006/relationships/slide" Target="/ppt/slides/slide2.xml" Id="Rdb2bd18c678a4181" /><Relationship Type="http://schemas.openxmlformats.org/officeDocument/2006/relationships/slide" Target="/ppt/slides/slide3.xml" Id="Ra56c78f02f3a47ca" /><Relationship Type="http://schemas.openxmlformats.org/officeDocument/2006/relationships/slide" Target="/ppt/slides/slide4.xml" Id="Rf866a6d499314c38" /><Relationship Type="http://schemas.openxmlformats.org/officeDocument/2006/relationships/slide" Target="/ppt/slides/slide5.xml" Id="R84be20556b9e4b99" /><Relationship Type="http://schemas.openxmlformats.org/officeDocument/2006/relationships/slide" Target="/ppt/slides/slide6.xml" Id="R87458003e46e400c" /><Relationship Type="http://schemas.openxmlformats.org/officeDocument/2006/relationships/slide" Target="/ppt/slides/slide7.xml" Id="Rc7f36c67621e41bf" /><Relationship Type="http://schemas.openxmlformats.org/officeDocument/2006/relationships/slide" Target="/ppt/slides/slide8.xml" Id="R57f1c6dc20cc40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d6567f937f4f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f8c30a6c074a52" /><Relationship Type="http://schemas.openxmlformats.org/officeDocument/2006/relationships/notesMaster" Target="/ppt/notesMasters/notesMaster1.xml" Id="Rceb9dc44086444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aabe012d5946b8" /><Relationship Type="http://schemas.openxmlformats.org/officeDocument/2006/relationships/notesMaster" Target="/ppt/notesMasters/notesMaster1.xml" Id="Radc5f826cc664f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aa75c1e6ab4baa" /><Relationship Type="http://schemas.openxmlformats.org/officeDocument/2006/relationships/notesMaster" Target="/ppt/notesMasters/notesMaster1.xml" Id="Rf11e7c5b63fa4e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d5a4095b84478b" /><Relationship Type="http://schemas.openxmlformats.org/officeDocument/2006/relationships/notesMaster" Target="/ppt/notesMasters/notesMaster1.xml" Id="R922f22107f0d45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8995b9789741e1" /><Relationship Type="http://schemas.openxmlformats.org/officeDocument/2006/relationships/notesMaster" Target="/ppt/notesMasters/notesMaster1.xml" Id="R9641bdccbf3040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254bc1dbee47dd" /><Relationship Type="http://schemas.openxmlformats.org/officeDocument/2006/relationships/notesMaster" Target="/ppt/notesMasters/notesMaster1.xml" Id="Rceda78f9f4904f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79b00540084e45" /><Relationship Type="http://schemas.openxmlformats.org/officeDocument/2006/relationships/notesMaster" Target="/ppt/notesMasters/notesMaster1.xml" Id="R155f2ec6f1024e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980d9d50454487" /><Relationship Type="http://schemas.openxmlformats.org/officeDocument/2006/relationships/notesMaster" Target="/ppt/notesMasters/notesMaster1.xml" Id="R7280f0df86bb46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 files: README.md, DOCUMENTATION.md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 files: README.md, DOCUMENTATION.md, backend/services/recommender.py, backend/services/gemini_service.py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 files: frontend/src/pages/ProfileForm.jsx, frontend/src/pages/Dashboard.jsx, backend/services/recommender.py, backend/services/gemini_service.py, backend/routes/recommend.py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 files: frontend/vite.config.js, backend/main.py, backend/routes/recommend.py, backend/routes/chat.py, backend/services/recommender.py, backend/services/vector_store.py, backend/services/gemini_service.py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 files: backend/services/recommender.py, backend/routes/recommend.py, backend/routes/chat.py, backend/services/vector_store.py, backend/services/gemini_service.py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 files: frontend/src/pages/Dashboard.jsx, backend/services/recommender.py, backend/routes/recommend.py, backend/routes/chat.py, backend/services/translation_service.py, backend/services/tts_service.py</a:t>
            </a:r>
          </a:p>
          <a:p xmlns:a="http://schemas.openxmlformats.org/drawingml/2006/main">
            <a:r>
              <a:t>The project files do not report measured user, environmental or government impact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 files: README.md, DOCUMENTATION.md, backend/requirements.txt, frontend/package.json</a:t>
            </a:r>
          </a:p>
          <a:p xmlns:a="http://schemas.openxmlformats.org/drawingml/2006/main">
            <a:r>
              <a:t>The last two points are proposed next steps, not claims about completed project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 files: README.md, DOCUMENTATION.md, backend/services/recommender.py, backend/services/vector_store.py, backend/services/gemini_service.py, backend/routes/recommend.py, backend/routes/chat.py, frontend/src/pages/ProfileForm.jsx, frontend/src/pages/Dashboard.jsx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563f7ef3649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c0d4a73e54a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0d4a9c50f42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6da51a5034c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f8c1bab08407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7b5d11322845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1F9D82-27DA-4DBC-A0EF-9BA54DCC37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E8905E-1C54-4C9F-9656-DAE9BC1903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5EF394-9A98-4193-AE59-36A27B8423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F208D3-CB55-44B7-B37E-2B46B6D6F9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98CCDD9-38B0-474B-B706-1697E5E7A5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2CE9E0-460D-4CD5-B52A-326475D8D2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C902E5-3AA5-4D17-AF43-2AECEC8931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063503-8C6E-4FCD-85F2-2E3F260AC1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5CA8DB-AA5F-42E3-9208-E9D529DA42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57786C-A29A-475E-B58D-501A8FF012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b0517bbe2f4b21" /><Relationship Type="http://schemas.openxmlformats.org/officeDocument/2006/relationships/slideLayout" Target="/ppt/slideLayouts/slideLayout1.xml" Id="R23d4b35603a24366" /><Relationship Type="http://schemas.openxmlformats.org/officeDocument/2006/relationships/slideLayout" Target="/ppt/slideLayouts/slideLayout2.xml" Id="Rf6f40571f134400c" /><Relationship Type="http://schemas.openxmlformats.org/officeDocument/2006/relationships/slideLayout" Target="/ppt/slideLayouts/slideLayout3.xml" Id="R668fc121afb34470" /><Relationship Type="http://schemas.openxmlformats.org/officeDocument/2006/relationships/slideLayout" Target="/ppt/slideLayouts/slideLayout4.xml" Id="R3e72017443134b1a" /><Relationship Type="http://schemas.openxmlformats.org/officeDocument/2006/relationships/slideLayout" Target="/ppt/slideLayouts/slideLayout5.xml" Id="R83a785c4fca74aa8" /><Relationship Type="http://schemas.openxmlformats.org/officeDocument/2006/relationships/slideLayout" Target="/ppt/slideLayouts/slideLayout6.xml" Id="Re607a3da4e954c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d4b35603a24366"/>
    <p:sldLayoutId xmlns:r="http://schemas.openxmlformats.org/officeDocument/2006/relationships" id="2147483650" r:id="Rf6f40571f134400c"/>
    <p:sldLayoutId xmlns:r="http://schemas.openxmlformats.org/officeDocument/2006/relationships" id="2147483651" r:id="R668fc121afb34470"/>
    <p:sldLayoutId xmlns:r="http://schemas.openxmlformats.org/officeDocument/2006/relationships" id="2147483652" r:id="R3e72017443134b1a"/>
    <p:sldLayoutId xmlns:r="http://schemas.openxmlformats.org/officeDocument/2006/relationships" id="2147483653" r:id="R83a785c4fca74aa8"/>
    <p:sldLayoutId xmlns:r="http://schemas.openxmlformats.org/officeDocument/2006/relationships" id="2147483654" r:id="Re607a3da4e954c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bdfde64d264a8e" /><Relationship Type="http://schemas.openxmlformats.org/officeDocument/2006/relationships/image" Target="/ppt/media/image.png" Id="Rcc552fe71bd44d87" /><Relationship Type="http://schemas.openxmlformats.org/officeDocument/2006/relationships/notesSlide" Target="/ppt/notesSlides/notesSlide1.xml" Id="Rcc09271c54ab41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6344c36bda46aa" /><Relationship Type="http://schemas.openxmlformats.org/officeDocument/2006/relationships/image" Target="/ppt/media/image2.png" Id="R3091a30e720c4ce5" /><Relationship Type="http://schemas.openxmlformats.org/officeDocument/2006/relationships/notesSlide" Target="/ppt/notesSlides/notesSlide2.xml" Id="R15d32b7cd29a44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08a3d9f4614a7b" /><Relationship Type="http://schemas.openxmlformats.org/officeDocument/2006/relationships/image" Target="/ppt/media/image3.png" Id="R2ab7e10e7f504fce" /><Relationship Type="http://schemas.openxmlformats.org/officeDocument/2006/relationships/notesSlide" Target="/ppt/notesSlides/notesSlide3.xml" Id="R53788cade1d348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a2562fcd094dbd" /><Relationship Type="http://schemas.openxmlformats.org/officeDocument/2006/relationships/image" Target="/ppt/media/image4.png" Id="Refd66602aec543ae" /><Relationship Type="http://schemas.openxmlformats.org/officeDocument/2006/relationships/notesSlide" Target="/ppt/notesSlides/notesSlide4.xml" Id="Re1fd9209113348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e11031c4264158" /><Relationship Type="http://schemas.openxmlformats.org/officeDocument/2006/relationships/image" Target="/ppt/media/image5.png" Id="R4c808da923d44a37" /><Relationship Type="http://schemas.openxmlformats.org/officeDocument/2006/relationships/notesSlide" Target="/ppt/notesSlides/notesSlide5.xml" Id="R4ace8dd8fc334a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0c22624744537" /><Relationship Type="http://schemas.openxmlformats.org/officeDocument/2006/relationships/image" Target="/ppt/media/image6.png" Id="R37807138bfb149fe" /><Relationship Type="http://schemas.openxmlformats.org/officeDocument/2006/relationships/notesSlide" Target="/ppt/notesSlides/notesSlide6.xml" Id="Rb19975a50a8345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fc20306bec413b" /><Relationship Type="http://schemas.openxmlformats.org/officeDocument/2006/relationships/image" Target="/ppt/media/image7.png" Id="R4a9e2860722f4053" /><Relationship Type="http://schemas.openxmlformats.org/officeDocument/2006/relationships/notesSlide" Target="/ppt/notesSlides/notesSlide7.xml" Id="R8a4b0d325d144f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1e976355324eb7" /><Relationship Type="http://schemas.openxmlformats.org/officeDocument/2006/relationships/image" Target="/ppt/media/image8.png" Id="Ra447bd0b4b414d13" /><Relationship Type="http://schemas.openxmlformats.org/officeDocument/2006/relationships/notesSlide" Target="/ppt/notesSlides/notesSlide8.xml" Id="Rdf825f01b16349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C63D9-D1D8-4906-B868-EA48E367AE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52fe71bd44d87"/>
          <a:srcRect xmlns:a="http://schemas.openxmlformats.org/drawingml/2006/main" l="0" t="56" r="0" b="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ntent-background">
            <a:extLst xmlns:a="http://schemas.openxmlformats.org/drawingml/2006/main">
              <a:ext uri="{FF2B5EF4-FFF2-40B4-BE49-F238E27FC236}">
                <a16:creationId xmlns:a16="http://schemas.microsoft.com/office/drawing/2014/main" id="{907C195F-C4B4-43A2-A4EE-A4EDDCC6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572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CE55A-A476-46A9-BFB8-17C960C8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20015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A2534"/>
                </a:solidFill>
                <a:latin typeface="Aptos"/>
                <a:ea typeface="Aptos"/>
                <a:cs typeface="Aptos"/>
              </a:rPr>
              <a:t>Education Counsellor</a:t>
            </a:r>
          </a:p>
        </p:txBody>
      </p:sp>
      <p:sp>
        <p:nvSpPr>
          <p:cNvPr id="4" name="content-background">
            <a:extLst xmlns:a="http://schemas.openxmlformats.org/drawingml/2006/main">
              <a:ext uri="{FF2B5EF4-FFF2-40B4-BE49-F238E27FC236}">
                <a16:creationId xmlns:a16="http://schemas.microsoft.com/office/drawing/2014/main" id="{71D73FC5-DD16-4A38-8A63-833EE411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419350"/>
            <a:ext cx="8001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A3AB4-6DED-43CD-BDAA-C2AA48E9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574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C566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56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5664"/>
                </a:solidFill>
                <a:latin typeface="Aptos"/>
                <a:ea typeface="Aptos"/>
                <a:cs typeface="Aptos"/>
              </a:rPr>
              <a:t>AI-powered college recommendations and student guidance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E2EB5-4C38-4B30-BD7F-1E00CFF6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0107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010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01070"/>
                </a:solidFill>
                <a:latin typeface="Aptos"/>
                <a:ea typeface="Aptos"/>
                <a:cs typeface="Aptos"/>
              </a:rPr>
              <a:t>AI-enabled education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7D3C9-6177-4BB4-9F3E-87E4DC55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2427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0107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010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01070"/>
                </a:solidFill>
                <a:latin typeface="Aptos"/>
                <a:ea typeface="Aptos"/>
                <a:cs typeface="Aptos"/>
              </a:rPr>
              <a:t>Personalized college discovery and counselling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692A9-BABA-402E-A083-C5F632A5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434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0107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010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01070"/>
                </a:solidFill>
                <a:latin typeface="Aptos"/>
                <a:ea typeface="Aptos"/>
                <a:cs typeface="Aptos"/>
              </a:rPr>
              <a:t>Hybrid College Recommendation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E72E1-B583-438A-839F-CC2C0F6D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6252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0107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010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01070"/>
                </a:solidFill>
                <a:latin typeface="Aptos"/>
                <a:ea typeface="Aptos"/>
                <a:cs typeface="Aptos"/>
              </a:rPr>
              <a:t>Not listed in project files</a:t>
            </a:r>
          </a:p>
        </p:txBody>
      </p:sp>
    </p:spTree>
    <p:extLst>
      <p:ext uri="{BB962C8B-B14F-4D97-AF65-F5344CB8AC3E}">
        <p14:creationId xmlns:p14="http://schemas.microsoft.com/office/powerpoint/2010/main" val="15769520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19A67-F798-4DD6-B394-3195A9F2C4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1a30e720c4ce5"/>
          <a:srcRect xmlns:a="http://schemas.openxmlformats.org/drawingml/2006/main" l="0" t="56" r="0" b="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ntent-background">
            <a:extLst xmlns:a="http://schemas.openxmlformats.org/drawingml/2006/main">
              <a:ext uri="{FF2B5EF4-FFF2-40B4-BE49-F238E27FC236}">
                <a16:creationId xmlns:a16="http://schemas.microsoft.com/office/drawing/2014/main" id="{58E6FEC8-E2EE-46D5-95C5-C40D8A52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33528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ditable-pointwise-list">
            <a:extLst xmlns:a="http://schemas.openxmlformats.org/drawingml/2006/main">
              <a:ext uri="{FF2B5EF4-FFF2-40B4-BE49-F238E27FC236}">
                <a16:creationId xmlns:a16="http://schemas.microsoft.com/office/drawing/2014/main" id="{37FE1BE9-CA71-4A2B-AF36-E034127D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3143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A2534"/>
                </a:solidFill>
                <a:latin typeface="Aptos"/>
                <a:ea typeface="Aptos"/>
                <a:cs typeface="Aptos"/>
              </a:rPr>
              <a:t>Entrance exams use different score units: marks, rank, percentile or percentage.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A2534"/>
                </a:solidFill>
                <a:latin typeface="Aptos"/>
                <a:ea typeface="Aptos"/>
                <a:cs typeface="Aptos"/>
              </a:rPr>
              <a:t>Students can misread a score when its exam context or unit is missing.</a:t>
            </a:r>
          </a:p>
        </p:txBody>
      </p:sp>
      <p:sp>
        <p:nvSpPr>
          <p:cNvPr id="4" name="content-background">
            <a:extLst xmlns:a="http://schemas.openxmlformats.org/drawingml/2006/main">
              <a:ext uri="{FF2B5EF4-FFF2-40B4-BE49-F238E27FC236}">
                <a16:creationId xmlns:a16="http://schemas.microsoft.com/office/drawing/2014/main" id="{FDD394EE-587B-43AE-9A11-8E5CF38B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67000"/>
            <a:ext cx="34099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ditable-pointwise-list">
            <a:extLst xmlns:a="http://schemas.openxmlformats.org/drawingml/2006/main">
              <a:ext uri="{FF2B5EF4-FFF2-40B4-BE49-F238E27FC236}">
                <a16:creationId xmlns:a16="http://schemas.microsoft.com/office/drawing/2014/main" id="{A6490405-38C3-45E2-8F11-71289489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3200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A2534"/>
                </a:solidFill>
                <a:latin typeface="Aptos"/>
                <a:ea typeface="Aptos"/>
                <a:cs typeface="Aptos"/>
              </a:rPr>
              <a:t>Cutoff history and admission rules are spread across many records and notices.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A2534"/>
                </a:solidFill>
                <a:latin typeface="Aptos"/>
                <a:ea typeface="Aptos"/>
                <a:cs typeface="Aptos"/>
              </a:rPr>
              <a:t>Comparing colleges by exam, branch, location and category takes time.</a:t>
            </a:r>
          </a:p>
        </p:txBody>
      </p:sp>
      <p:sp>
        <p:nvSpPr>
          <p:cNvPr id="6" name="content-background">
            <a:extLst xmlns:a="http://schemas.openxmlformats.org/drawingml/2006/main">
              <a:ext uri="{FF2B5EF4-FFF2-40B4-BE49-F238E27FC236}">
                <a16:creationId xmlns:a16="http://schemas.microsoft.com/office/drawing/2014/main" id="{B9C26E07-EE2F-4DAD-827F-EC884E92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67000"/>
            <a:ext cx="3390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ditable-pointwise-list">
            <a:extLst xmlns:a="http://schemas.openxmlformats.org/drawingml/2006/main">
              <a:ext uri="{FF2B5EF4-FFF2-40B4-BE49-F238E27FC236}">
                <a16:creationId xmlns:a16="http://schemas.microsoft.com/office/drawing/2014/main" id="{303A64D0-47DB-4100-BC80-349CE3AF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31813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A2534"/>
                </a:solidFill>
                <a:latin typeface="Aptos"/>
                <a:ea typeface="Aptos"/>
                <a:cs typeface="Aptos"/>
              </a:rPr>
              <a:t>Static lists rarely adapt to a student profile or preferences.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A2534"/>
                </a:solidFill>
                <a:latin typeface="Aptos"/>
                <a:ea typeface="Aptos"/>
                <a:cs typeface="Aptos"/>
              </a:rPr>
              <a:t>General language models can state unsupported cutoff numbers.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7079A-5BE2-4C0B-800F-491305F9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1070"/>
                </a:solidFill>
                <a:latin typeface="Aptos"/>
                <a:ea typeface="Aptos"/>
                <a:cs typeface="Aptos"/>
              </a:rPr>
              <a:t>Need: relevant options with exam-aware checks and clear context for follow-up questions.</a:t>
            </a:r>
          </a:p>
        </p:txBody>
      </p:sp>
    </p:spTree>
    <p:extLst>
      <p:ext uri="{BB962C8B-B14F-4D97-AF65-F5344CB8AC3E}">
        <p14:creationId xmlns:p14="http://schemas.microsoft.com/office/powerpoint/2010/main" val="6122280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18ECA-8DAF-4B61-B5BB-FF6E7FEC95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7e10e7f504fce"/>
          <a:srcRect xmlns:a="http://schemas.openxmlformats.org/drawingml/2006/main" l="0" t="56" r="0" b="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pointwise-list">
            <a:extLst xmlns:a="http://schemas.openxmlformats.org/drawingml/2006/main">
              <a:ext uri="{FF2B5EF4-FFF2-40B4-BE49-F238E27FC236}">
                <a16:creationId xmlns:a16="http://schemas.microsoft.com/office/drawing/2014/main" id="{36DF4830-D849-40AD-8333-1C8F0898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509587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A2534"/>
                </a:solidFill>
                <a:latin typeface="Aptos"/>
                <a:ea typeface="Aptos"/>
                <a:cs typeface="Aptos"/>
              </a:rPr>
              <a:t>Student profile captures stream, exam, score and score unit, target location and preferences.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A2534"/>
                </a:solidFill>
                <a:latin typeface="Aptos"/>
                <a:ea typeface="Aptos"/>
                <a:cs typeface="Aptos"/>
              </a:rPr>
              <a:t>Recommendation service searches structured cutoff records and can fall back to an in-memory catalog.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A2534"/>
                </a:solidFill>
                <a:latin typeface="Aptos"/>
                <a:ea typeface="Aptos"/>
                <a:cs typeface="Aptos"/>
              </a:rPr>
              <a:t>Counsellor chat uses the active profile and retrieved college context to answer follow-up questions.</a:t>
            </a:r>
          </a:p>
        </p:txBody>
      </p:sp>
      <p:sp>
        <p:nvSpPr>
          <p:cNvPr id="3" name="editable-pointwise-list">
            <a:extLst xmlns:a="http://schemas.openxmlformats.org/drawingml/2006/main">
              <a:ext uri="{FF2B5EF4-FFF2-40B4-BE49-F238E27FC236}">
                <a16:creationId xmlns:a16="http://schemas.microsoft.com/office/drawing/2014/main" id="{F582B595-B55E-4C7E-9E92-6EA5D940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24100"/>
            <a:ext cx="51435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A2534"/>
                </a:solidFill>
                <a:latin typeface="Aptos"/>
                <a:ea typeface="Aptos"/>
                <a:cs typeface="Aptos"/>
              </a:rPr>
              <a:t>Exam and stream post-filters constrain the generated recommendation list.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A2534"/>
                </a:solidFill>
                <a:latin typeface="Aptos"/>
                <a:ea typeface="Aptos"/>
                <a:cs typeface="Aptos"/>
              </a:rPr>
              <a:t>College details, comparison, CAP simulation and scholarship estimates support review.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A2534"/>
                </a:solidFill>
                <a:latin typeface="Aptos"/>
                <a:ea typeface="Aptos"/>
                <a:cs typeface="Aptos"/>
              </a:rPr>
              <a:t>Translation and text-to-speech routes extend the guidance experience.</a:t>
            </a:r>
          </a:p>
        </p:txBody>
      </p:sp>
    </p:spTree>
    <p:extLst>
      <p:ext uri="{BB962C8B-B14F-4D97-AF65-F5344CB8AC3E}">
        <p14:creationId xmlns:p14="http://schemas.microsoft.com/office/powerpoint/2010/main" val="15415043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5632FA-25BA-4B1D-9265-DD7EA98AE68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667625" y="3267075"/>
            <a:ext cx="2381250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5E27D6"/>
            </a:solidFill>
            <a:prstDash val="solid"/>
            <a:head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2224DC-B8AA-4B87-86A3-BA0EB428843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667625" y="3267075"/>
            <a:ext cx="428625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5E27D6"/>
            </a:solidFill>
            <a:prstDash val="solid"/>
            <a:head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A62EC7-13C2-4939-8E3D-04A4CF9C42F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7667625" y="2838450"/>
            <a:ext cx="428625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5E27D6"/>
            </a:solidFill>
            <a:prstDash val="solid"/>
            <a:head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92773E-C266-4FA5-AC9C-2A91A62E3F6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05500" y="3267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E27D6"/>
            </a:solidFill>
            <a:prstDash val="solid"/>
            <a:headEnd type="arrow" w="med" len="med"/>
          </a:ln>
        </p:spPr>
      </p:cxn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62923C-1C36-4435-B84C-22CEEB5A8A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66602aec543ae"/>
          <a:srcRect xmlns:a="http://schemas.openxmlformats.org/drawingml/2006/main" l="0" t="56" r="0" b="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ntent-background">
            <a:extLst xmlns:a="http://schemas.openxmlformats.org/drawingml/2006/main">
              <a:ext uri="{FF2B5EF4-FFF2-40B4-BE49-F238E27FC236}">
                <a16:creationId xmlns:a16="http://schemas.microsoft.com/office/drawing/2014/main" id="{FBE3A260-C658-477C-8630-7471DA3A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5619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4D450-5672-4AC4-BBB2-6DF4D108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"/>
            <a:ext cx="523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5E27D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5E27D6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5E27D6"/>
                </a:solidFill>
                <a:latin typeface="Aptos"/>
                <a:ea typeface="Aptos"/>
                <a:cs typeface="Aptos"/>
              </a:rPr>
              <a:t>Technical Architecture</a:t>
            </a:r>
          </a:p>
        </p:txBody>
      </p:sp>
      <p:sp>
        <p:nvSpPr>
          <p:cNvPr id="4" name="template-title-rule">
            <a:extLst xmlns:a="http://schemas.openxmlformats.org/drawingml/2006/main">
              <a:ext uri="{FF2B5EF4-FFF2-40B4-BE49-F238E27FC236}">
                <a16:creationId xmlns:a16="http://schemas.microsoft.com/office/drawing/2014/main" id="{EE8D560A-19A7-4211-A0C6-754B247C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10953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5E27D6"/>
            </a:solidFill>
            <a:prstDash val="solid"/>
          </a:ln>
        </p:spPr>
      </p:sp>
      <p:sp>
        <p:nvSpPr>
          <p:cNvPr id="5" name="editable-pointwise-list">
            <a:extLst xmlns:a="http://schemas.openxmlformats.org/drawingml/2006/main">
              <a:ext uri="{FF2B5EF4-FFF2-40B4-BE49-F238E27FC236}">
                <a16:creationId xmlns:a16="http://schemas.microsoft.com/office/drawing/2014/main" id="{403801BD-046B-4E00-B6E6-681B1FCB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3810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A2534"/>
                </a:solidFill>
                <a:latin typeface="Aptos"/>
                <a:ea typeface="Aptos"/>
                <a:cs typeface="Aptos"/>
              </a:rPr>
              <a:t>Frontend: React 18, Vite, React Router and Bootstrap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A2534"/>
                </a:solidFill>
                <a:latin typeface="Aptos"/>
                <a:ea typeface="Aptos"/>
                <a:cs typeface="Aptos"/>
              </a:rPr>
              <a:t>API: Python, FastAPI, Pydantic and Uvicorn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A2534"/>
                </a:solidFill>
                <a:latin typeface="Aptos"/>
                <a:ea typeface="Aptos"/>
                <a:cs typeface="Aptos"/>
              </a:rPr>
              <a:t>Data: MongoDB through Motor; persistent ChromaDB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A2534"/>
                </a:solidFill>
                <a:latin typeface="Aptos"/>
                <a:ea typeface="Aptos"/>
                <a:cs typeface="Aptos"/>
              </a:rPr>
              <a:t>AI: Google GenAI SDK with Gemini models</a:t>
            </a:r>
          </a:p>
        </p:txBody>
      </p:sp>
      <p:sp>
        <p:nvSpPr>
          <p:cNvPr id="6" name="editable-diagram-node">
            <a:extLst xmlns:a="http://schemas.openxmlformats.org/drawingml/2006/main">
              <a:ext uri="{FF2B5EF4-FFF2-40B4-BE49-F238E27FC236}">
                <a16:creationId xmlns:a16="http://schemas.microsoft.com/office/drawing/2014/main" id="{EB5490EF-D149-4841-992A-EF9DCCB6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E27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45CF7-26B4-4D7A-8E9D-D7C141CF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01070"/>
                </a:solidFill>
                <a:latin typeface="Aptos"/>
                <a:ea typeface="Aptos"/>
                <a:cs typeface="Aptos"/>
              </a:rPr>
              <a:t>React + Vite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64C8F-F6BF-488F-9C7A-14D082E6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67075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Profile • dashboard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college details • chat</a:t>
            </a:r>
          </a:p>
        </p:txBody>
      </p:sp>
      <p:sp>
        <p:nvSpPr>
          <p:cNvPr id="9" name="editable-diagram-node">
            <a:extLst xmlns:a="http://schemas.openxmlformats.org/drawingml/2006/main">
              <a:ext uri="{FF2B5EF4-FFF2-40B4-BE49-F238E27FC236}">
                <a16:creationId xmlns:a16="http://schemas.microsoft.com/office/drawing/2014/main" id="{03114388-E2E5-4884-B479-BCAFC596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4763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9050">
            <a:solidFill>
              <a:srgbClr val="5E27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BB845-BCFE-4C4C-AAE3-D54947B7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01070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2E09B-26FF-4ACE-A1E1-B194523D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67075"/>
            <a:ext cx="1247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625"/>
          </a:bodyPr>
          <a:lstStyle xmlns:a="http://schemas.openxmlformats.org/drawingml/2006/main">
            <a:defPPr algn="ctr"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REST routes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recommend • chat • tools</a:t>
            </a:r>
          </a:p>
        </p:txBody>
      </p:sp>
      <p:sp>
        <p:nvSpPr>
          <p:cNvPr id="12" name="editable-diagram-node">
            <a:extLst xmlns:a="http://schemas.openxmlformats.org/drawingml/2006/main">
              <a:ext uri="{FF2B5EF4-FFF2-40B4-BE49-F238E27FC236}">
                <a16:creationId xmlns:a16="http://schemas.microsoft.com/office/drawing/2014/main" id="{A691D084-BA44-453B-967D-DDA311F5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1714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F78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115B3-5AB0-41E6-84E5-B82EA333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24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01070"/>
                </a:solidFill>
                <a:latin typeface="Aptos"/>
                <a:ea typeface="Aptos"/>
                <a:cs typeface="Aptos"/>
              </a:rPr>
              <a:t>MongoDB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78BA5-8143-424F-8D38-D7B712F0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Profiles • chat history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structured cutoff records</a:t>
            </a:r>
          </a:p>
        </p:txBody>
      </p:sp>
      <p:sp>
        <p:nvSpPr>
          <p:cNvPr id="15" name="editable-diagram-node">
            <a:extLst xmlns:a="http://schemas.openxmlformats.org/drawingml/2006/main">
              <a:ext uri="{FF2B5EF4-FFF2-40B4-BE49-F238E27FC236}">
                <a16:creationId xmlns:a16="http://schemas.microsoft.com/office/drawing/2014/main" id="{062AD847-FF84-48E2-9783-13146510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1714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A7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CF98E-B4ED-4194-B113-F8E4EE27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01070"/>
                </a:solidFill>
                <a:latin typeface="Aptos"/>
                <a:ea typeface="Aptos"/>
                <a:cs typeface="Aptos"/>
              </a:rPr>
              <a:t>ChromaDB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48933-141F-4967-A8CE-1121813F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8620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Semantic college content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and source metadata</a:t>
            </a:r>
          </a:p>
        </p:txBody>
      </p:sp>
      <p:sp>
        <p:nvSpPr>
          <p:cNvPr id="18" name="editable-diagram-node">
            <a:extLst xmlns:a="http://schemas.openxmlformats.org/drawingml/2006/main">
              <a:ext uri="{FF2B5EF4-FFF2-40B4-BE49-F238E27FC236}">
                <a16:creationId xmlns:a16="http://schemas.microsoft.com/office/drawing/2014/main" id="{C7117B6D-58BB-46C0-A190-666FF6C1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52750"/>
            <a:ext cx="1666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9050">
            <a:solidFill>
              <a:srgbClr val="5E27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EDDE8-1AD0-4E45-A853-E43AAF22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0480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01070"/>
                </a:solidFill>
                <a:latin typeface="Aptos"/>
                <a:ea typeface="Aptos"/>
                <a:cs typeface="Aptos"/>
              </a:rPr>
              <a:t>Gemini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3F229A-FA7F-4B16-B80C-C3071968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362325"/>
            <a:ext cx="1438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Recommendation text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and counselor replies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6BDD09-0620-474C-8FE3-27AF5469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670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E2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4FF679-2291-4D89-BD1F-0321CF43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670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5E27D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5E27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27D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9CB9AC-ECEE-422C-8B71-520CA972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670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E2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79EE47-ED54-40B4-867A-53BFC6AB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8384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E2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013285-8C46-48A3-A7BD-DA568DF6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8384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E2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2C386B-0259-4800-BD2C-7A4FE144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647950"/>
            <a:ext cx="200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5E27D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5E27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E27D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04511D-8613-44DE-8701-7B3EECC8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67075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E27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57E611-F022-4CC6-9D28-923FC9BF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88620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E27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26E8B4-CE7E-4AF8-B9A0-73B8C840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695700"/>
            <a:ext cx="200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5E27D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5E27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E27D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3CCF2E-8B47-4B45-ABE5-F3D8E47C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67075"/>
            <a:ext cx="215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E27D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701D54-B630-4676-B19B-A327C8A5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76575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5E27D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5E27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E27D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1254D2-7FFA-4C04-B465-7ED1058F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006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C566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C56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5664"/>
                </a:solidFill>
                <a:latin typeface="Aptos"/>
                <a:ea typeface="Aptos"/>
                <a:cs typeface="Aptos"/>
              </a:rPr>
              <a:t>Vite proxies /api calls to FastAPI during local development.</a:t>
            </a:r>
          </a:p>
        </p:txBody>
      </p:sp>
    </p:spTree>
    <p:extLst>
      <p:ext uri="{BB962C8B-B14F-4D97-AF65-F5344CB8AC3E}">
        <p14:creationId xmlns:p14="http://schemas.microsoft.com/office/powerpoint/2010/main" val="11012959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DF8EE-9152-4474-ABFB-D975C7137BBE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477375" y="37719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E27D6"/>
            </a:solidFill>
            <a:prstDash val="solid"/>
            <a:head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2E4CE6-1235-4AA5-AA20-B868221811A7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143750" y="37719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E27D6"/>
            </a:solidFill>
            <a:prstDash val="solid"/>
            <a:head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C0A02-07A3-4F94-8504-9A6D3BA6355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10125" y="37719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E27D6"/>
            </a:solidFill>
            <a:prstDash val="solid"/>
            <a:head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D0BB1-A8F8-4F75-9668-FC002670FE0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76500" y="37719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E27D6"/>
            </a:solidFill>
            <a:prstDash val="solid"/>
            <a:headEnd type="arrow" w="med" len="med"/>
          </a:ln>
        </p:spPr>
      </p:cxn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73D493-CA10-4CC0-AC4B-6DE6C2CC31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08da923d44a37"/>
          <a:srcRect xmlns:a="http://schemas.openxmlformats.org/drawingml/2006/main" l="0" t="56" r="0" b="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ntent-background">
            <a:extLst xmlns:a="http://schemas.openxmlformats.org/drawingml/2006/main">
              <a:ext uri="{FF2B5EF4-FFF2-40B4-BE49-F238E27FC236}">
                <a16:creationId xmlns:a16="http://schemas.microsoft.com/office/drawing/2014/main" id="{AEFB95DE-CBEF-4431-879B-ED4F725B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C7D62-C95A-4E70-A885-E8943C3F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C566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56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5664"/>
                </a:solidFill>
                <a:latin typeface="Aptos"/>
                <a:ea typeface="Aptos"/>
                <a:cs typeface="Aptos"/>
              </a:rPr>
              <a:t>Recommendation flow uses the exam, score unit and preferences supplied in the student profile.</a:t>
            </a:r>
          </a:p>
        </p:txBody>
      </p:sp>
      <p:sp>
        <p:nvSpPr>
          <p:cNvPr id="4" name="editable-diagram-node">
            <a:extLst xmlns:a="http://schemas.openxmlformats.org/drawingml/2006/main">
              <a:ext uri="{FF2B5EF4-FFF2-40B4-BE49-F238E27FC236}">
                <a16:creationId xmlns:a16="http://schemas.microsoft.com/office/drawing/2014/main" id="{086DC261-E83C-4961-996D-372ECEC3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1952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E27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9FB93-D757-4E40-A38D-88EC1692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01070"/>
                </a:solidFill>
                <a:latin typeface="Aptos"/>
                <a:ea typeface="Aptos"/>
                <a:cs typeface="Aptos"/>
              </a:rPr>
              <a:t>Student 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30018-AB7B-4E76-A7A0-D1071D45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43325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Stream • exam • score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location • preferences</a:t>
            </a:r>
          </a:p>
        </p:txBody>
      </p:sp>
      <p:sp>
        <p:nvSpPr>
          <p:cNvPr id="7" name="editable-diagram-node">
            <a:extLst xmlns:a="http://schemas.openxmlformats.org/drawingml/2006/main">
              <a:ext uri="{FF2B5EF4-FFF2-40B4-BE49-F238E27FC236}">
                <a16:creationId xmlns:a16="http://schemas.microsoft.com/office/drawing/2014/main" id="{87464486-1A98-46C3-9D06-B9040348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1952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F78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6C381-E4EA-4755-B213-9EE94B15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01070"/>
                </a:solidFill>
                <a:latin typeface="Aptos"/>
                <a:ea typeface="Aptos"/>
                <a:cs typeface="Aptos"/>
              </a:rPr>
              <a:t>Find college pool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C260B-738F-4F25-8A13-3F549BF4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43325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MongoDB cutoff query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or catalog fallback</a:t>
            </a:r>
          </a:p>
        </p:txBody>
      </p:sp>
      <p:sp>
        <p:nvSpPr>
          <p:cNvPr id="10" name="editable-diagram-node">
            <a:extLst xmlns:a="http://schemas.openxmlformats.org/drawingml/2006/main">
              <a:ext uri="{FF2B5EF4-FFF2-40B4-BE49-F238E27FC236}">
                <a16:creationId xmlns:a16="http://schemas.microsoft.com/office/drawing/2014/main" id="{8FB92EC2-5E8A-4253-9548-FCB348D9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33750"/>
            <a:ext cx="1952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9050">
            <a:solidFill>
              <a:srgbClr val="5E27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96DD9-DCE8-4848-9DFB-12F16D6B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290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01070"/>
                </a:solidFill>
                <a:latin typeface="Aptos"/>
                <a:ea typeface="Aptos"/>
                <a:cs typeface="Aptos"/>
              </a:rPr>
              <a:t>Generate options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DC5A4-5C19-45BB-B33E-483D1259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43325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Gemini receives the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profile based prompt</a:t>
            </a:r>
          </a:p>
        </p:txBody>
      </p:sp>
      <p:sp>
        <p:nvSpPr>
          <p:cNvPr id="13" name="editable-diagram-node">
            <a:extLst xmlns:a="http://schemas.openxmlformats.org/drawingml/2006/main">
              <a:ext uri="{FF2B5EF4-FFF2-40B4-BE49-F238E27FC236}">
                <a16:creationId xmlns:a16="http://schemas.microsoft.com/office/drawing/2014/main" id="{191B38F7-3DD1-43C3-A17F-FD8DA8E9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952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F78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8DCDB-DA92-4E2F-86E0-67DD6374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01070"/>
                </a:solidFill>
                <a:latin typeface="Aptos"/>
                <a:ea typeface="Aptos"/>
                <a:cs typeface="Aptos"/>
              </a:rPr>
              <a:t>Check fit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3EFFB-939F-49DE-AC6C-2BB7B0E0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43325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Stream and exam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post-filters apply</a:t>
            </a:r>
          </a:p>
        </p:txBody>
      </p:sp>
      <p:sp>
        <p:nvSpPr>
          <p:cNvPr id="16" name="editable-diagram-node">
            <a:extLst xmlns:a="http://schemas.openxmlformats.org/drawingml/2006/main">
              <a:ext uri="{FF2B5EF4-FFF2-40B4-BE49-F238E27FC236}">
                <a16:creationId xmlns:a16="http://schemas.microsoft.com/office/drawing/2014/main" id="{D2AC5633-CE5E-4452-B747-186DAA39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0"/>
            <a:ext cx="1952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A7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4BA3D-9941-4F18-A523-DCD8C0C6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4290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01070"/>
                </a:solidFill>
                <a:latin typeface="Aptos"/>
                <a:ea typeface="Aptos"/>
                <a:cs typeface="Aptos"/>
              </a:rPr>
              <a:t>Explore 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0C173-0056-41A7-9DAF-1C02EC49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743325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Recommendations, details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and comparison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6BA11-D973-4C3F-94A7-7DAA05AF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719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E27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9975AC-799F-4568-AD39-1A4F8C6C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571875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5E27D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E27D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E27D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8ECC0F-E05D-47F1-9971-02D94F2A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719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E2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BD09F1-2BA2-42B1-A66B-044EB816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71875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5E27D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E27D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E27D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4BA13A-ED13-4557-AA99-B0F319C8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19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E2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68D9B7-B35E-426D-A247-0CDDE7A4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71875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5E27D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E27D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E27D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519B7B-B8CC-4651-9A5C-29188E1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719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E2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6C0AC4-B4B8-46D6-80B7-7B5B291A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71875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5E27D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E27D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E27D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1" name="content-background">
            <a:extLst xmlns:a="http://schemas.openxmlformats.org/drawingml/2006/main">
              <a:ext uri="{FF2B5EF4-FFF2-40B4-BE49-F238E27FC236}">
                <a16:creationId xmlns:a16="http://schemas.microsoft.com/office/drawing/2014/main" id="{72BFD974-455E-43A5-BA25-961D88BB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38650"/>
            <a:ext cx="11001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75617F-0C37-41D4-8895-F61FD72A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010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1070"/>
                </a:solidFill>
                <a:latin typeface="Aptos"/>
                <a:ea typeface="Aptos"/>
                <a:cs typeface="Aptos"/>
              </a:rPr>
              <a:t>Counsellor chat path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62500D-3AD4-4C1D-B473-FD6025A9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A2534"/>
                </a:solidFill>
                <a:latin typeface="Aptos"/>
                <a:ea typeface="Aptos"/>
                <a:cs typeface="Aptos"/>
              </a:rPr>
              <a:t>Student question + profile  →  ChromaDB semantic retrieval  →  Gemini response with retrieved source metadata when available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6FFCFD-BF4F-4E20-9223-F781D7FB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C566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56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5664"/>
                </a:solidFill>
                <a:latin typeface="Aptos"/>
                <a:ea typeface="Aptos"/>
                <a:cs typeface="Aptos"/>
              </a:rPr>
              <a:t>Related endpoints: compare colleges • simulate CAP options • estimate scholarships • translate • text to speech</a:t>
            </a:r>
          </a:p>
        </p:txBody>
      </p:sp>
    </p:spTree>
    <p:extLst>
      <p:ext uri="{BB962C8B-B14F-4D97-AF65-F5344CB8AC3E}">
        <p14:creationId xmlns:p14="http://schemas.microsoft.com/office/powerpoint/2010/main" val="2166699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BF13C-A18E-493C-ABAD-206C33FE06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07138bfb149fe"/>
          <a:srcRect xmlns:a="http://schemas.openxmlformats.org/drawingml/2006/main" l="0" t="56" r="0" b="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ntent-background">
            <a:extLst xmlns:a="http://schemas.openxmlformats.org/drawingml/2006/main">
              <a:ext uri="{FF2B5EF4-FFF2-40B4-BE49-F238E27FC236}">
                <a16:creationId xmlns:a16="http://schemas.microsoft.com/office/drawing/2014/main" id="{3A1D9325-E467-41D2-BA50-1007672B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ntent-background">
            <a:extLst xmlns:a="http://schemas.openxmlformats.org/drawingml/2006/main">
              <a:ext uri="{FF2B5EF4-FFF2-40B4-BE49-F238E27FC236}">
                <a16:creationId xmlns:a16="http://schemas.microsoft.com/office/drawing/2014/main" id="{92F671A5-B06E-4791-B308-3612F194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1047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pointwise-list">
            <a:extLst xmlns:a="http://schemas.openxmlformats.org/drawingml/2006/main">
              <a:ext uri="{FF2B5EF4-FFF2-40B4-BE49-F238E27FC236}">
                <a16:creationId xmlns:a16="http://schemas.microsoft.com/office/drawing/2014/main" id="{C1AE58A8-3265-4D9A-A999-E9CED8D8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A2534"/>
                </a:solidFill>
                <a:latin typeface="Aptos"/>
                <a:ea typeface="Aptos"/>
                <a:cs typeface="Aptos"/>
              </a:rPr>
              <a:t>Students can review options using their exam, score unit and location preferences.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A2534"/>
                </a:solidFill>
                <a:latin typeface="Aptos"/>
                <a:ea typeface="Aptos"/>
                <a:cs typeface="Aptos"/>
              </a:rPr>
              <a:t>Eligibility labels and college details provide comparison context; they do not guarantee admission.</a:t>
            </a:r>
          </a:p>
        </p:txBody>
      </p:sp>
      <p:sp>
        <p:nvSpPr>
          <p:cNvPr id="5" name="content-background">
            <a:extLst xmlns:a="http://schemas.openxmlformats.org/drawingml/2006/main">
              <a:ext uri="{FF2B5EF4-FFF2-40B4-BE49-F238E27FC236}">
                <a16:creationId xmlns:a16="http://schemas.microsoft.com/office/drawing/2014/main" id="{940C7AE0-4CB0-4CCE-BF77-6EED9BE2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1047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ditable-pointwise-list">
            <a:extLst xmlns:a="http://schemas.openxmlformats.org/drawingml/2006/main">
              <a:ext uri="{FF2B5EF4-FFF2-40B4-BE49-F238E27FC236}">
                <a16:creationId xmlns:a16="http://schemas.microsoft.com/office/drawing/2014/main" id="{AD32BD7A-71FB-4CC3-8B85-DA7DBF5C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000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A2534"/>
                </a:solidFill>
                <a:latin typeface="Aptos"/>
                <a:ea typeface="Aptos"/>
                <a:cs typeface="Aptos"/>
              </a:rPr>
              <a:t>Combines structured cutoff lookup with profile-aware recommendation and semantic counselling.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A2534"/>
                </a:solidFill>
                <a:latin typeface="Aptos"/>
                <a:ea typeface="Aptos"/>
                <a:cs typeface="Aptos"/>
              </a:rPr>
              <a:t>Comparison, CAP simulation and scholarship tools support the next decision steps.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A2534"/>
                </a:solidFill>
                <a:latin typeface="Aptos"/>
                <a:ea typeface="Aptos"/>
                <a:cs typeface="Aptos"/>
              </a:rPr>
              <a:t>Translation and speech routes can make guidance easier to access.</a:t>
            </a:r>
          </a:p>
        </p:txBody>
      </p:sp>
    </p:spTree>
    <p:extLst>
      <p:ext uri="{BB962C8B-B14F-4D97-AF65-F5344CB8AC3E}">
        <p14:creationId xmlns:p14="http://schemas.microsoft.com/office/powerpoint/2010/main" val="15286190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21139-3637-4609-8D79-44009A4AC0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e2860722f4053"/>
          <a:srcRect xmlns:a="http://schemas.openxmlformats.org/drawingml/2006/main" l="0" t="56" r="0" b="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ntent-background">
            <a:extLst xmlns:a="http://schemas.openxmlformats.org/drawingml/2006/main">
              <a:ext uri="{FF2B5EF4-FFF2-40B4-BE49-F238E27FC236}">
                <a16:creationId xmlns:a16="http://schemas.microsoft.com/office/drawing/2014/main" id="{DCC936A5-DDE7-4EFE-824D-BEF561C2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81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ditable-pointwise-list">
            <a:extLst xmlns:a="http://schemas.openxmlformats.org/drawingml/2006/main">
              <a:ext uri="{FF2B5EF4-FFF2-40B4-BE49-F238E27FC236}">
                <a16:creationId xmlns:a16="http://schemas.microsoft.com/office/drawing/2014/main" id="{24F4D675-0470-470F-87F1-ED3432EB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878"/>
          </a:bodyPr>
          <a:lstStyle xmlns:a="http://schemas.openxmlformats.org/drawingml/2006/main">
            <a:defPPr>
              <a:defRPr sz="1125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125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2A2534"/>
                </a:solidFill>
                <a:latin typeface="Aptos"/>
                <a:ea typeface="Aptos"/>
                <a:cs typeface="Aptos"/>
              </a:rPr>
              <a:t>Cutoff data can become stale; maintain a dated import and validation process.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125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2A2534"/>
                </a:solidFill>
                <a:latin typeface="Aptos"/>
                <a:ea typeface="Aptos"/>
                <a:cs typeface="Aptos"/>
              </a:rPr>
              <a:t>AI output can vary; preserve exam/stream checks, retrieved context and service fallbacks.</a:t>
            </a:r>
          </a:p>
        </p:txBody>
      </p:sp>
      <p:sp>
        <p:nvSpPr>
          <p:cNvPr id="4" name="content-background">
            <a:extLst xmlns:a="http://schemas.openxmlformats.org/drawingml/2006/main">
              <a:ext uri="{FF2B5EF4-FFF2-40B4-BE49-F238E27FC236}">
                <a16:creationId xmlns:a16="http://schemas.microsoft.com/office/drawing/2014/main" id="{14C0B3AB-E9D5-4FB9-A165-563B72EE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8108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ditable-pointwise-list">
            <a:extLst xmlns:a="http://schemas.openxmlformats.org/drawingml/2006/main">
              <a:ext uri="{FF2B5EF4-FFF2-40B4-BE49-F238E27FC236}">
                <a16:creationId xmlns:a16="http://schemas.microsoft.com/office/drawing/2014/main" id="{21658541-6FD0-49F9-8F56-E5FD7F33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125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2A2534"/>
                </a:solidFill>
                <a:latin typeface="Aptos"/>
                <a:ea typeface="Aptos"/>
                <a:cs typeface="Aptos"/>
              </a:rPr>
              <a:t>Existing React, FastAPI and database components form a working application foundation.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125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2A2534"/>
                </a:solidFill>
                <a:latin typeface="Aptos"/>
                <a:ea typeface="Aptos"/>
                <a:cs typeface="Aptos"/>
              </a:rPr>
              <a:t>Scale-up needs hosting, data maintenance, privacy controls and an AI usage budget; no cost or revenue study is included.</a:t>
            </a:r>
          </a:p>
        </p:txBody>
      </p:sp>
      <p:sp>
        <p:nvSpPr>
          <p:cNvPr id="6" name="content-background">
            <a:extLst xmlns:a="http://schemas.openxmlformats.org/drawingml/2006/main">
              <a:ext uri="{FF2B5EF4-FFF2-40B4-BE49-F238E27FC236}">
                <a16:creationId xmlns:a16="http://schemas.microsoft.com/office/drawing/2014/main" id="{C98E15C2-D9A9-4632-BFFE-1E842637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810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ditable-pointwise-list">
            <a:extLst xmlns:a="http://schemas.openxmlformats.org/drawingml/2006/main">
              <a:ext uri="{FF2B5EF4-FFF2-40B4-BE49-F238E27FC236}">
                <a16:creationId xmlns:a16="http://schemas.microsoft.com/office/drawing/2014/main" id="{FC90DC20-22C6-4D6D-B1C9-ABDC62CF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125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2A2534"/>
                </a:solidFill>
                <a:latin typeface="Aptos"/>
                <a:ea typeface="Aptos"/>
                <a:cs typeface="Aptos"/>
              </a:rPr>
              <a:t>Validate cutoff provenance and freshness against official counseling sources.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125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2A2534"/>
                </a:solidFill>
                <a:latin typeface="Aptos"/>
                <a:ea typeface="Aptos"/>
                <a:cs typeface="Aptos"/>
              </a:rPr>
              <a:t>Evaluate recommendations with representative profiles and user feedback before wider deployment.</a:t>
            </a:r>
          </a:p>
        </p:txBody>
      </p:sp>
    </p:spTree>
    <p:extLst>
      <p:ext uri="{BB962C8B-B14F-4D97-AF65-F5344CB8AC3E}">
        <p14:creationId xmlns:p14="http://schemas.microsoft.com/office/powerpoint/2010/main" val="14528033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72330-DE67-4B99-8064-2E9DBA193D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7bd0b4b414d13"/>
          <a:srcRect xmlns:a="http://schemas.openxmlformats.org/drawingml/2006/main" l="0" t="56" r="0" b="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ntent-background">
            <a:extLst xmlns:a="http://schemas.openxmlformats.org/drawingml/2006/main">
              <a:ext uri="{FF2B5EF4-FFF2-40B4-BE49-F238E27FC236}">
                <a16:creationId xmlns:a16="http://schemas.microsoft.com/office/drawing/2014/main" id="{62E9D2D2-87CC-44EE-B288-6A9D1A77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47825"/>
            <a:ext cx="10715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ditable-pointwise-list">
            <a:extLst xmlns:a="http://schemas.openxmlformats.org/drawingml/2006/main">
              <a:ext uri="{FF2B5EF4-FFF2-40B4-BE49-F238E27FC236}">
                <a16:creationId xmlns:a16="http://schemas.microsoft.com/office/drawing/2014/main" id="{B9241F22-C62E-4608-8EB7-2F6DC195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43075"/>
            <a:ext cx="10287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2A253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A2534"/>
                </a:solidFill>
                <a:latin typeface="Aptos"/>
                <a:ea typeface="Aptos"/>
                <a:cs typeface="Aptos"/>
              </a:rPr>
              <a:t>README.md: project summary, features, technology stack and setup instructions.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A2534"/>
                </a:solidFill>
                <a:latin typeface="Aptos"/>
                <a:ea typeface="Aptos"/>
                <a:cs typeface="Aptos"/>
              </a:rPr>
              <a:t>DOCUMENTATION.md: system overview, architecture, data stores, APIs and roadmap.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A2534"/>
                </a:solidFill>
                <a:latin typeface="Aptos"/>
                <a:ea typeface="Aptos"/>
                <a:cs typeface="Aptos"/>
              </a:rPr>
              <a:t>backend/services/recommender.py: recommendation and filtering logic.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A2534"/>
                </a:solidFill>
                <a:latin typeface="Aptos"/>
                <a:ea typeface="Aptos"/>
                <a:cs typeface="Aptos"/>
              </a:rPr>
              <a:t>backend/services/vector_store.py and backend/services/gemini_service.py: retrieval and AI response path.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A2534"/>
                </a:solidFill>
                <a:latin typeface="Aptos"/>
                <a:ea typeface="Aptos"/>
                <a:cs typeface="Aptos"/>
              </a:rPr>
              <a:t>backend/routes/recommend.py and backend/routes/chat.py: API entry points.</a:t>
            </a:r>
          </a:p>
          <a:p xmlns:a="http://schemas.openxmlformats.org/drawingml/2006/main">
            <a:pPr marL="165100" indent="-88900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2A253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A2534"/>
                </a:solidFill>
                <a:latin typeface="Aptos"/>
                <a:ea typeface="Aptos"/>
                <a:cs typeface="Aptos"/>
              </a:rPr>
              <a:t>frontend/src/pages/ProfileForm.jsx and frontend/src/pages/Dashboard.jsx: profile and results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E983D-5CBF-4DF0-9774-A1211D5C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57750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C566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C56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5664"/>
                </a:solidFill>
                <a:latin typeface="Aptos"/>
                <a:ea typeface="Aptos"/>
                <a:cs typeface="Aptos"/>
              </a:rPr>
              <a:t>Project documentation was used as the source; its numerical accuracy and impact claims were not independently verified for this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252748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2026-10-14T17:33:47.1490000Z</dcterms:created>
  <dcterms:modified xsi:type="dcterms:W3CDTF">2026-10-14T17:33:47.1490000Z</dcterms:modified>
</coreProperties>
</file>